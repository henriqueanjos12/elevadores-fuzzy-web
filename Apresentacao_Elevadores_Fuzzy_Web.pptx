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14"/>
  </p:sldIdLst>
  <p:sldSz cy="5143500" cx="9144000"/>
  <p:notesSz cx="6858000" cy="9144000"/>
  <p:embeddedFontLst>
    <p:embeddedFont>
      <p:font typeface="Montserrat"/>
      <p:regular r:id="rId31"/>
      <p:bold r:id="rId32"/>
      <p:italic r:id="rId33"/>
      <p:boldItalic r:id="rId34"/>
    </p:embeddedFont>
    <p:embeddedFont>
      <p:font typeface="Lat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39" roundtripDataSignature="AMtx7mgP/mheLYft6OZZwkKT5Y6DSVHY6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4" Type="http://schemas.openxmlformats.org/officeDocument/2006/relationships/slide" Target="slides/slide17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font" Target="fonts/Montserrat-regular.fntdata"/><Relationship Id="rId32" Type="http://schemas.openxmlformats.org/officeDocument/2006/relationships/font" Target="fonts/Montserrat-bold.fntdata"/><Relationship Id="rId33" Type="http://schemas.openxmlformats.org/officeDocument/2006/relationships/font" Target="fonts/Montserrat-italic.fntdata"/><Relationship Id="rId34" Type="http://schemas.openxmlformats.org/officeDocument/2006/relationships/font" Target="fonts/Montserrat-boldItalic.fntdata"/><Relationship Id="rId35" Type="http://schemas.openxmlformats.org/officeDocument/2006/relationships/font" Target="fonts/Lato-regular.fntdata"/><Relationship Id="rId36" Type="http://schemas.openxmlformats.org/officeDocument/2006/relationships/font" Target="fonts/Lato-bold.fntdata"/><Relationship Id="rId37" Type="http://schemas.openxmlformats.org/officeDocument/2006/relationships/font" Target="fonts/Lato-italic.fntdata"/><Relationship Id="rId38" Type="http://schemas.openxmlformats.org/officeDocument/2006/relationships/font" Target="fonts/Lato-boldItalic.fntdata"/><Relationship Id="rId39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ffset_comp_406605.jpg" id="10" name="Google Shape;10;p18"/>
          <p:cNvPicPr preferRelativeResize="0"/>
          <p:nvPr/>
        </p:nvPicPr>
        <p:blipFill rotWithShape="1">
          <a:blip r:embed="rId2">
            <a:alphaModFix amt="66000"/>
          </a:blip>
          <a:srcRect b="39566" l="20992" r="40113" t="2691"/>
          <a:stretch/>
        </p:blipFill>
        <p:spPr>
          <a:xfrm>
            <a:off x="0" y="0"/>
            <a:ext cx="5157900" cy="5143500"/>
          </a:xfrm>
          <a:prstGeom prst="rtTriangle">
            <a:avLst/>
          </a:prstGeom>
          <a:noFill/>
          <a:ln>
            <a:noFill/>
          </a:ln>
        </p:spPr>
      </p:pic>
      <p:pic>
        <p:nvPicPr>
          <p:cNvPr descr="offset_comp_342327_edtied.jpg" id="11" name="Google Shape;11;p18"/>
          <p:cNvPicPr preferRelativeResize="0"/>
          <p:nvPr/>
        </p:nvPicPr>
        <p:blipFill rotWithShape="1">
          <a:blip r:embed="rId3">
            <a:alphaModFix amt="31000"/>
          </a:blip>
          <a:srcRect b="11298" l="14010" r="43290" t="35834"/>
          <a:stretch/>
        </p:blipFill>
        <p:spPr>
          <a:xfrm rot="10800000">
            <a:off x="6976800" y="-25"/>
            <a:ext cx="2167200" cy="2012700"/>
          </a:xfrm>
          <a:prstGeom prst="rtTriangle">
            <a:avLst/>
          </a:prstGeom>
          <a:noFill/>
          <a:ln>
            <a:noFill/>
          </a:ln>
        </p:spPr>
      </p:pic>
      <p:sp>
        <p:nvSpPr>
          <p:cNvPr id="12" name="Google Shape;12;p18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3" name="Google Shape;13;p18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15" name="Google Shape;15;p18"/>
          <p:cNvSpPr/>
          <p:nvPr/>
        </p:nvSpPr>
        <p:spPr>
          <a:xfrm rot="-5400000">
            <a:off x="5846" y="-4836"/>
            <a:ext cx="2291400" cy="2300100"/>
          </a:xfrm>
          <a:prstGeom prst="diagStripe">
            <a:avLst>
              <a:gd fmla="val 5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18"/>
          <p:cNvSpPr/>
          <p:nvPr/>
        </p:nvSpPr>
        <p:spPr>
          <a:xfrm flipH="1">
            <a:off x="652821" y="576768"/>
            <a:ext cx="2300100" cy="2291400"/>
          </a:xfrm>
          <a:prstGeom prst="diagStripe">
            <a:avLst>
              <a:gd fmla="val 50000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9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19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9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9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" name="Google Shape;22;p19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23" name="Google Shape;23;p1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1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5" name="Google Shape;25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6" name="Google Shape;26;p1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7" name="Google Shape;27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20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30" name="Google Shape;30;p20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p20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p20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20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20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20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20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20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38;p20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20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20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20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20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" name="Google Shape;43;p20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44;p20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45;p20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46;p20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p20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" name="Google Shape;48;p20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Google Shape;50;p20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20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0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20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OC">
  <p:cSld name="SECTION_HEADER_1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56" name="Google Shape;56;p2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2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2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2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2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" name="Google Shape;61;p2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p2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p2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" name="Google Shape;64;p2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" name="Google Shape;65;p2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" name="Google Shape;66;p2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" name="Google Shape;67;p2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2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" name="Google Shape;69;p2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p2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2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2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2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4" name="Google Shape;74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75" name="Google Shape;75;p2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_alt1">
  <p:cSld name="TITLE_AND_BODY_2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2"/>
          <p:cNvSpPr txBox="1"/>
          <p:nvPr>
            <p:ph type="title"/>
          </p:nvPr>
        </p:nvSpPr>
        <p:spPr>
          <a:xfrm>
            <a:off x="361071" y="1924852"/>
            <a:ext cx="2304900" cy="179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78" name="Google Shape;78;p22"/>
          <p:cNvSpPr/>
          <p:nvPr/>
        </p:nvSpPr>
        <p:spPr>
          <a:xfrm>
            <a:off x="4564200" y="0"/>
            <a:ext cx="45798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22"/>
          <p:cNvSpPr txBox="1"/>
          <p:nvPr>
            <p:ph idx="1" type="body"/>
          </p:nvPr>
        </p:nvSpPr>
        <p:spPr>
          <a:xfrm>
            <a:off x="6451271" y="1924850"/>
            <a:ext cx="2304900" cy="179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 sz="1100">
                <a:solidFill>
                  <a:schemeClr val="dk1"/>
                </a:solidFill>
              </a:defRPr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22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2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2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2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4" name="Google Shape;84;p22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85" name="Google Shape;85;p22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22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7" name="Google Shape;87;p22"/>
          <p:cNvSpPr txBox="1"/>
          <p:nvPr>
            <p:ph idx="2" type="title"/>
          </p:nvPr>
        </p:nvSpPr>
        <p:spPr>
          <a:xfrm>
            <a:off x="1297500" y="459490"/>
            <a:ext cx="3005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_alt2">
  <p:cSld name="TITLE_AND_BODY_2_1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type="title"/>
          </p:nvPr>
        </p:nvSpPr>
        <p:spPr>
          <a:xfrm>
            <a:off x="702850" y="1708619"/>
            <a:ext cx="3333300" cy="147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91" name="Google Shape;91;p23"/>
          <p:cNvSpPr/>
          <p:nvPr/>
        </p:nvSpPr>
        <p:spPr>
          <a:xfrm>
            <a:off x="0" y="3486600"/>
            <a:ext cx="9144000" cy="1656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3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3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3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23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6" name="Google Shape;96;p23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97" name="Google Shape;97;p23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23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9" name="Google Shape;99;p23"/>
          <p:cNvSpPr txBox="1"/>
          <p:nvPr>
            <p:ph idx="2" type="title"/>
          </p:nvPr>
        </p:nvSpPr>
        <p:spPr>
          <a:xfrm>
            <a:off x="1297500" y="459490"/>
            <a:ext cx="3005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100" name="Google Shape;10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101" name="Google Shape;101;p23"/>
          <p:cNvSpPr txBox="1"/>
          <p:nvPr>
            <p:ph idx="1" type="body"/>
          </p:nvPr>
        </p:nvSpPr>
        <p:spPr>
          <a:xfrm>
            <a:off x="702850" y="3625275"/>
            <a:ext cx="3333300" cy="76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 sz="1100">
                <a:solidFill>
                  <a:schemeClr val="dk1"/>
                </a:solidFill>
              </a:defRPr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>
                <a:solidFill>
                  <a:schemeClr val="dk1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>
                <a:solidFill>
                  <a:schemeClr val="dk1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1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4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4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4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7" name="Google Shape;107;p24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108" name="Google Shape;108;p2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109;p2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0" name="Google Shape;110;p2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1" name="Google Shape;111;p24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2" name="Google Shape;112;p24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3" name="Google Shape;113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5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5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5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9" name="Google Shape;119;p25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120" name="Google Shape;120;p2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2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2" name="Google Shape;122;p2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23" name="Google Shape;123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6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26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6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6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9" name="Google Shape;129;p26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130" name="Google Shape;130;p2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2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2" name="Google Shape;132;p26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33" name="Google Shape;133;p26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4" name="Google Shape;134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7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7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7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40" name="Google Shape;140;p27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141" name="Google Shape;141;p27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27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27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27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27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27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27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27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27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27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27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27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27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27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27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27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27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27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9" name="Google Shape;159;p27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0" name="Google Shape;160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8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8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8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8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6" name="Google Shape;166;p28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167" name="Google Shape;167;p28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28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9" name="Google Shape;169;p28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70" name="Google Shape;170;p28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71" name="Google Shape;171;p28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72" name="Google Shape;172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Google Shape;174;p29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75" name="Google Shape;175;p29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803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29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803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78" name="Google Shape;178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179" name="Google Shape;179;p29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9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9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29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" name="Google Shape;184;p30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85" name="Google Shape;185;p30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30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52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30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30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30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30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30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30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30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30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30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30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30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30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30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" name="Google Shape;200;p30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30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30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4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3" name="Google Shape;203;p30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204" name="Google Shape;204;p30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05" name="Google Shape;205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06" name="Google Shape;206;p30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30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30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30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_alt3">
  <p:cSld name="TITLE_AND_BODY_1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ffset_comp_343059.jpg" id="213" name="Google Shape;213;p32"/>
          <p:cNvPicPr preferRelativeResize="0"/>
          <p:nvPr/>
        </p:nvPicPr>
        <p:blipFill rotWithShape="1">
          <a:blip r:embed="rId2">
            <a:alphaModFix amt="80000"/>
          </a:blip>
          <a:srcRect b="25870" l="30475" r="30475" t="11956"/>
          <a:stretch/>
        </p:blipFill>
        <p:spPr>
          <a:xfrm rot="-5400000">
            <a:off x="113630" y="-105700"/>
            <a:ext cx="5142300" cy="5364300"/>
          </a:xfrm>
          <a:prstGeom prst="diagStripe">
            <a:avLst>
              <a:gd fmla="val 50343" name="adj"/>
            </a:avLst>
          </a:prstGeom>
          <a:noFill/>
          <a:ln>
            <a:noFill/>
          </a:ln>
        </p:spPr>
      </p:pic>
      <p:sp>
        <p:nvSpPr>
          <p:cNvPr id="214" name="Google Shape;214;p3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15" name="Google Shape;215;p32"/>
          <p:cNvSpPr txBox="1"/>
          <p:nvPr>
            <p:ph idx="1" type="body"/>
          </p:nvPr>
        </p:nvSpPr>
        <p:spPr>
          <a:xfrm>
            <a:off x="4018025" y="1567550"/>
            <a:ext cx="4318500" cy="17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Char char="●"/>
              <a:defRPr>
                <a:solidFill>
                  <a:schemeClr val="dk2"/>
                </a:solidFill>
              </a:defRPr>
            </a:lvl1pPr>
            <a:lvl2pPr indent="-2984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>
                <a:solidFill>
                  <a:schemeClr val="dk2"/>
                </a:solidFill>
              </a:defRPr>
            </a:lvl2pPr>
            <a:lvl3pPr indent="-29845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■"/>
              <a:defRPr>
                <a:solidFill>
                  <a:schemeClr val="dk2"/>
                </a:solidFill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  <a:defRPr>
                <a:solidFill>
                  <a:schemeClr val="dk2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>
                <a:solidFill>
                  <a:schemeClr val="dk2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■"/>
              <a:defRPr>
                <a:solidFill>
                  <a:schemeClr val="dk2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  <a:defRPr>
                <a:solidFill>
                  <a:schemeClr val="dk2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Char char="○"/>
              <a:defRPr>
                <a:solidFill>
                  <a:schemeClr val="dk2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16" name="Google Shape;216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17" name="Google Shape;217;p32"/>
          <p:cNvSpPr/>
          <p:nvPr/>
        </p:nvSpPr>
        <p:spPr>
          <a:xfrm>
            <a:off x="0" y="0"/>
            <a:ext cx="632700" cy="58860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32"/>
          <p:cNvSpPr/>
          <p:nvPr/>
        </p:nvSpPr>
        <p:spPr>
          <a:xfrm>
            <a:off x="212050" y="221751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32"/>
          <p:cNvSpPr/>
          <p:nvPr/>
        </p:nvSpPr>
        <p:spPr>
          <a:xfrm>
            <a:off x="212050" y="284225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2"/>
          <p:cNvSpPr/>
          <p:nvPr/>
        </p:nvSpPr>
        <p:spPr>
          <a:xfrm>
            <a:off x="212050" y="346699"/>
            <a:ext cx="219600" cy="18900"/>
          </a:xfrm>
          <a:prstGeom prst="rect">
            <a:avLst/>
          </a:prstGeom>
          <a:solidFill>
            <a:srgbClr val="55688B">
              <a:alpha val="3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1" name="Google Shape;221;p32"/>
          <p:cNvGrpSpPr/>
          <p:nvPr/>
        </p:nvGrpSpPr>
        <p:grpSpPr>
          <a:xfrm>
            <a:off x="0" y="381001"/>
            <a:ext cx="1037850" cy="1016288"/>
            <a:chOff x="0" y="381001"/>
            <a:chExt cx="1037850" cy="1016288"/>
          </a:xfrm>
        </p:grpSpPr>
        <p:sp>
          <p:nvSpPr>
            <p:cNvPr id="222" name="Google Shape;222;p32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32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0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b="0" i="0" sz="13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Despacho de Elevadores com Lógica Fuzzy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Disciplina: Inteligência Computacional Aplicada</a:t>
            </a:r>
          </a:p>
          <a:p>
            <a:r>
              <a:t>Aluno: Luiz Henrique dos Anjos Santos</a:t>
            </a:r>
          </a:p>
          <a:p>
            <a:r>
              <a:t>Professor: Cláudio Sá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Índice / Sumário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Contextualização do Problema</a:t>
            </a:r>
          </a:p>
          <a:p>
            <a:r>
              <a:t>Objetivo</a:t>
            </a:r>
          </a:p>
          <a:p>
            <a:r>
              <a:t>Especificação do Problema</a:t>
            </a:r>
          </a:p>
          <a:p>
            <a:r>
              <a:t>Fundamentação Teórica — Lógica Fuzzy Mamdani</a:t>
            </a:r>
          </a:p>
          <a:p>
            <a:r>
              <a:t>Modelagem do Controlador Fuzzy</a:t>
            </a:r>
          </a:p>
          <a:p>
            <a:r>
              <a:t>Filtro Determinístico</a:t>
            </a:r>
          </a:p>
          <a:p>
            <a:r>
              <a:t>Arquitetura da Solução (versão web)</a:t>
            </a:r>
          </a:p>
          <a:p>
            <a:r>
              <a:t>Funcionalidades e Demonstração</a:t>
            </a:r>
          </a:p>
          <a:p>
            <a:r>
              <a:t>Simplificações Assumidas</a:t>
            </a:r>
          </a:p>
          <a:p>
            <a:r>
              <a:t>Conclusão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Contextualização do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7500" y="1567550"/>
            <a:ext cx="2212966" cy="7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97500" y="2417550"/>
            <a:ext cx="2212966" cy="232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Prédios com vários elevadores precisam decidir, a cada chamada, qual elevador deve atender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10466" y="1567550"/>
            <a:ext cx="2212966" cy="7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10466" y="2417550"/>
            <a:ext cx="2212966" cy="232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Regras simples (ex.: sempre o mais próximo) ignoram fatores como a lotação atual de cada elevador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3432" y="1567550"/>
            <a:ext cx="2212966" cy="7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3432" y="2417550"/>
            <a:ext cx="2212966" cy="232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Lógica fuzzy modela esse tipo de decisão de forma parecida com o raciocínio de um operador humano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Implementar um controlador fuzzy Mamdani que decide qual dos 3 elevadores atende cada chamada</a:t>
            </a:r>
          </a:p>
          <a:p>
            <a:r>
              <a:t>Considerar a distância até o andar da chamada e a lotação atual de cada elevador</a:t>
            </a:r>
          </a:p>
          <a:p>
            <a:r>
              <a:t>Simular a operação completa do prédio (filas, embarque, portas) numa interface interativa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Especificação do Problema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Edifício Casa Roja: 3 elevadores, 12 pavimentos por padrão (configurável em tempo real)</a:t>
            </a:r>
          </a:p>
          <a:p>
            <a:r>
              <a:t>Cada pavimento tem botões de chamada ▲ subir / ▼ descer</a:t>
            </a:r>
          </a:p>
          <a:p>
            <a:r>
              <a:t>Fluxo em duas fases, como um elevador real: botão externo só registra andar e direção; o "painel interno" só pergunta quantas pessoas embarcam quando a porta abre</a:t>
            </a:r>
          </a:p>
          <a:p>
            <a:r>
              <a:t>Exercício da apostila da disciplina: "Sistema de gerenciamento de atendimento a chamadas para um conjunto de três elevadores"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Fundamentação Teórica — Inferência Mamdani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Funções de pertinência trapezoidais [a, b, c, d]: sobem de 0 a 1, platô, descem a 0</a:t>
            </a:r>
          </a:p>
          <a:p>
            <a:r>
              <a:t>Operador E (antecedente composto): interseção pelo mínimo, μ(A∩B) = min[μA, μB]</a:t>
            </a:r>
          </a:p>
          <a:p>
            <a:r>
              <a:t>Implicação de Mamdani: saída da regra = min[força da regra, pertinência de saída]</a:t>
            </a:r>
          </a:p>
          <a:p>
            <a:r>
              <a:t>Agregação entre regras: máximo — μR(w) = max[μC'1(w), μC'2(w), ...]</a:t>
            </a:r>
          </a:p>
          <a:p>
            <a:r>
              <a:t>Defuzzificação por centroide, sobre universo de saída discreto (0–100)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Modelagem do Controlador Fuzzy — Variáveis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297500" y="1567550"/>
          <a:ext cx="7038900" cy="1680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46300"/>
                <a:gridCol w="2346300"/>
                <a:gridCol w="2346300"/>
              </a:tblGrid>
              <a:tr h="42000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Variável</a:t>
                      </a:r>
                    </a:p>
                  </a:txBody>
                  <a:tcPr>
                    <a:solidFill>
                      <a:srgbClr val="2A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Universo</a:t>
                      </a:r>
                    </a:p>
                  </a:txBody>
                  <a:tcPr>
                    <a:solidFill>
                      <a:srgbClr val="2A3B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Termos linguísticos</a:t>
                      </a:r>
                    </a:p>
                  </a:txBody>
                  <a:tcPr>
                    <a:solidFill>
                      <a:srgbClr val="2A3B5C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distancia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 a N−1 pavimentos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próxima, média, distante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lotacao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 a 100 %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baixa, média, alta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prioridade (saída)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 a 100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muito baixa, baixa, média, alta, muito alta</a:t>
                      </a:r>
                    </a:p>
                  </a:txBody>
                  <a:tcPr>
                    <a:solidFill>
                      <a:srgbClr val="1C2840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297500" y="3397550"/>
            <a:ext cx="7038900" cy="13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Grade completa de regras: distancia (3) × lotacao (3) = 9 regras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Exemplo: SE distancia é próxima E lotacao é baixa ENTÃO prioridade é muito alta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Filtro Determinístico (pré-fuzzy)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Roda antes da fuzzificação e descarta elevadores que fisicamente não fazem sentido para a chamada</a:t>
            </a:r>
          </a:p>
          <a:p>
            <a:r>
              <a:t>Elevador lotado (sem vagas) → descartado</a:t>
            </a:r>
          </a:p>
          <a:p>
            <a:r>
              <a:t>Em movimento e já passou do andar da chamada (subindo acima ou descendo abaixo) → descartado</a:t>
            </a:r>
          </a:p>
          <a:p>
            <a:r>
              <a:t>Em movimento e já está exatamente no andar da chamada → descartado (não vai parar de repente)</a:t>
            </a:r>
          </a:p>
          <a:p>
            <a:r>
              <a:t>A interface mostra o motivo exato do descarte para cada elevador eliminado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da Solução — Versão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HTML, CSS e JavaScript puro (módulos ES), sem dependências nem etapa de build</a:t>
            </a:r>
          </a:p>
          <a:p>
            <a:r>
              <a:t>Publicada como site estático no GitHub Pages — abre direto no navegador, inclusive pelo celular</a:t>
            </a:r>
          </a:p>
          <a:p>
            <a:r>
              <a:t>Estrutura dos módulos espelha diretamente a versão Python/CustomTkinter original</a:t>
            </a:r>
          </a:p>
          <a:p>
            <a:r>
              <a:t>js/fuzzy.js: controlador fuzzy · js/simulador.js: laço de simulação · js/charts.js: gráficos editáveis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Funcionalidades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Prédio configurável: andares e capacidade por elevador ajustáveis em tempo real</a:t>
            </a:r>
          </a:p>
          <a:p>
            <a:r>
              <a:t>Gráficos de pertinência editáveis por arraste, com o motor de inferência reagindo ao vivo</a:t>
            </a:r>
          </a:p>
          <a:p>
            <a:r>
              <a:t>Tabela de decisão fuzzy: compara os 3 elevadores lado a lado para a última chamada</a:t>
            </a:r>
          </a:p>
          <a:p>
            <a:r>
              <a:t>Calculadora de aptidão: testa cenários hipotéticos sem afetar a simulação em andamento</a:t>
            </a:r>
          </a:p>
          <a:p>
            <a:r>
              <a:t>Log de eventos e dois algoritmos de despacho (fuzzy vs. mais próximo) para comparar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Demonstração — Estado Inicial</a:t>
            </a:r>
          </a:p>
        </p:txBody>
      </p:sp>
      <p:pic>
        <p:nvPicPr>
          <p:cNvPr id="3" name="Picture 2" descr="relatorio_1_in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350" y="1567550"/>
            <a:ext cx="4111200" cy="285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97500" y="4422550"/>
            <a:ext cx="70389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D0D4DB"/>
                </a:solidFill>
              </a:defRPr>
            </a:pPr>
            <a:r>
              <a:t>Prédio, decisão fuzzy e calculadora de aptidão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Demonstração — Decisão Fuzzy em Ação</a:t>
            </a:r>
          </a:p>
        </p:txBody>
      </p:sp>
      <p:pic>
        <p:nvPicPr>
          <p:cNvPr id="3" name="Picture 2" descr="relatorio_2_deci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350" y="1567550"/>
            <a:ext cx="4111200" cy="285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97500" y="4422550"/>
            <a:ext cx="70389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D0D4DB"/>
                </a:solidFill>
              </a:defRPr>
            </a:pPr>
            <a:r>
              <a:t>Elevador escolhido em destaque, com a entrada marcada nos gráficos de pertinência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Demonstração — Edição de Pertinências ao Vivo</a:t>
            </a:r>
          </a:p>
        </p:txBody>
      </p:sp>
      <p:pic>
        <p:nvPicPr>
          <p:cNvPr id="3" name="Picture 2" descr="relatorio_3_ed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772" y="1567550"/>
            <a:ext cx="5936355" cy="285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97500" y="4422550"/>
            <a:ext cx="70389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D0D4DB"/>
                </a:solidFill>
              </a:defRPr>
            </a:pPr>
            <a:r>
              <a:t>Arrastar os vértices dos trapézios reconstrói o controlador fuzzy imediatamente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Demonstração — Layout Responsivo</a:t>
            </a:r>
          </a:p>
        </p:txBody>
      </p:sp>
      <p:pic>
        <p:nvPicPr>
          <p:cNvPr id="3" name="Picture 2" descr="relatorio_4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323" y="1567550"/>
            <a:ext cx="1319253" cy="2855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97500" y="4422550"/>
            <a:ext cx="70389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D0D4DB"/>
                </a:solidFill>
              </a:defRPr>
            </a:pPr>
            <a:r>
              <a:t>Mesma aplicação funcionando em largura de celular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Simplificações Assumidas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Entradas fuzzy: distância e lotação atual — "demanda por andar" e "previsão de paradas" foram exploradas e removidas para manter a base de regras simples o bastante para explicar em aula</a:t>
            </a:r>
          </a:p>
          <a:p>
            <a:r>
              <a:t>Máquina de inferência implementada: apenas Mamdani (sem Takagi-Sugeno nesta versão)</a:t>
            </a:r>
          </a:p>
          <a:p>
            <a:r>
              <a:t>Geração automática/aleatória de chamadas e métricas detalhadas existem só na versão desktop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7500" y="1567550"/>
            <a:ext cx="2212966" cy="7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97500" y="2417550"/>
            <a:ext cx="2212966" cy="232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A versão web reproduz fielmente o motor de decisão fuzzy da versão Python original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10466" y="1567550"/>
            <a:ext cx="2212966" cy="7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10466" y="2417550"/>
            <a:ext cx="2212966" cy="232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Interativa e sem instalação, é adequada tanto para demonstração em aula quanto para exploração individual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3432" y="1567550"/>
            <a:ext cx="2212966" cy="7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3B82F6"/>
                </a:solidFill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3432" y="2417550"/>
            <a:ext cx="2212966" cy="232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Próximos passos: máquina de inferência Takagi-Sugeno e novas variáveis fuzzy (demanda por andar, previsão de paradas)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